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national_scholarship_preview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national_scholarship_preview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524750" cy="6858000"/>
          </a:xfrm>
          <a:prstGeom prst="rect">
            <a:avLst/>
          </a:prstGeom>
          <a:solidFill>
            <a:srgbClr val="0B203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524750" y="0"/>
            <a:ext cx="4667250" cy="6858000"/>
          </a:xfrm>
          <a:prstGeom prst="rect">
            <a:avLst/>
          </a:prstGeom>
          <a:solidFill>
            <a:srgbClr val="E8EEF0"/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7524750" y="2857500"/>
            <a:ext cx="4667250" cy="4000500"/>
          </a:xfrm>
          <a:custGeom>
            <a:avLst/>
            <a:gdLst/>
            <a:ahLst/>
            <a:cxnLst/>
            <a:rect l="l" t="t" r="r" b="b"/>
            <a:pathLst>
              <a:path w="4667250" h="4000500">
                <a:moveTo>
                  <a:pt x="0" y="2476500"/>
                </a:moveTo>
                <a:lnTo>
                  <a:pt x="571500" y="1428750"/>
                </a:lnTo>
                <a:lnTo>
                  <a:pt x="1047750" y="2000250"/>
                </a:lnTo>
                <a:lnTo>
                  <a:pt x="1543050" y="571500"/>
                </a:lnTo>
                <a:lnTo>
                  <a:pt x="2047875" y="1619250"/>
                </a:lnTo>
                <a:lnTo>
                  <a:pt x="2571750" y="0"/>
                </a:lnTo>
                <a:lnTo>
                  <a:pt x="3190875" y="1381125"/>
                </a:lnTo>
                <a:lnTo>
                  <a:pt x="3762375" y="857250"/>
                </a:lnTo>
                <a:lnTo>
                  <a:pt x="4667250" y="2095500"/>
                </a:lnTo>
                <a:lnTo>
                  <a:pt x="4667250" y="4000500"/>
                </a:lnTo>
                <a:lnTo>
                  <a:pt x="0" y="4000500"/>
                </a:lnTo>
                <a:close/>
              </a:path>
            </a:pathLst>
          </a:custGeom>
          <a:solidFill>
            <a:srgbClr val="CFDADD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7524750" y="2857500"/>
            <a:ext cx="4667250" cy="2476500"/>
          </a:xfrm>
          <a:custGeom>
            <a:avLst/>
            <a:gdLst/>
            <a:ahLst/>
            <a:cxnLst/>
            <a:rect l="l" t="t" r="r" b="b"/>
            <a:pathLst>
              <a:path w="4667250" h="2476500">
                <a:moveTo>
                  <a:pt x="0" y="2476500"/>
                </a:moveTo>
                <a:lnTo>
                  <a:pt x="571500" y="1428750"/>
                </a:lnTo>
                <a:lnTo>
                  <a:pt x="1047750" y="2000250"/>
                </a:lnTo>
                <a:lnTo>
                  <a:pt x="1543050" y="571500"/>
                </a:lnTo>
                <a:lnTo>
                  <a:pt x="2047875" y="1619250"/>
                </a:lnTo>
                <a:lnTo>
                  <a:pt x="2571750" y="0"/>
                </a:lnTo>
                <a:lnTo>
                  <a:pt x="3190875" y="1381125"/>
                </a:lnTo>
                <a:lnTo>
                  <a:pt x="3762375" y="857250"/>
                </a:lnTo>
                <a:lnTo>
                  <a:pt x="4667250" y="2095500"/>
                </a:lnTo>
              </a:path>
            </a:pathLst>
          </a:custGeom>
          <a:noFill/>
          <a:ln w="38100">
            <a:solidFill>
              <a:srgbClr val="D7A85B">
                <a:alpha val="85000"/>
              </a:srgbClr>
            </a:solidFill>
          </a:ln>
        </p:spPr>
      </p:sp>
      <p:sp>
        <p:nvSpPr>
          <p:cNvPr id="6" name="Rectangle 6"/>
          <p:cNvSpPr/>
          <p:nvPr/>
        </p:nvSpPr>
        <p:spPr>
          <a:xfrm>
            <a:off x="7953375" y="5381625"/>
            <a:ext cx="266700" cy="857250"/>
          </a:xfrm>
          <a:prstGeom prst="roundRect">
            <a:avLst>
              <a:gd name="adj" fmla="val 7143"/>
            </a:avLst>
          </a:prstGeom>
          <a:solidFill>
            <a:srgbClr val="B7C9CD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8020050" y="5524500"/>
            <a:ext cx="47625" cy="95250"/>
          </a:xfrm>
          <a:prstGeom prst="roundRect">
            <a:avLst>
              <a:gd name="adj" fmla="val 20000"/>
            </a:avLst>
          </a:prstGeom>
          <a:solidFill>
            <a:srgbClr val="F7F3EA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115300" y="5524500"/>
            <a:ext cx="47625" cy="95250"/>
          </a:xfrm>
          <a:prstGeom prst="roundRect">
            <a:avLst>
              <a:gd name="adj" fmla="val 20000"/>
            </a:avLst>
          </a:prstGeom>
          <a:solidFill>
            <a:srgbClr val="F7F3EA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8429625" y="5143500"/>
            <a:ext cx="266700" cy="1333500"/>
          </a:xfrm>
          <a:prstGeom prst="roundRect">
            <a:avLst>
              <a:gd name="adj" fmla="val 7143"/>
            </a:avLst>
          </a:prstGeom>
          <a:solidFill>
            <a:srgbClr val="B7C9CD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8496300" y="5286375"/>
            <a:ext cx="47625" cy="95250"/>
          </a:xfrm>
          <a:prstGeom prst="roundRect">
            <a:avLst>
              <a:gd name="adj" fmla="val 20000"/>
            </a:avLst>
          </a:prstGeom>
          <a:solidFill>
            <a:srgbClr val="F7F3EA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8591550" y="5286375"/>
            <a:ext cx="47625" cy="95250"/>
          </a:xfrm>
          <a:prstGeom prst="roundRect">
            <a:avLst>
              <a:gd name="adj" fmla="val 20000"/>
            </a:avLst>
          </a:prstGeom>
          <a:solidFill>
            <a:srgbClr val="F7F3EA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8905875" y="5314950"/>
            <a:ext cx="266700" cy="1000125"/>
          </a:xfrm>
          <a:prstGeom prst="roundRect">
            <a:avLst>
              <a:gd name="adj" fmla="val 7143"/>
            </a:avLst>
          </a:prstGeom>
          <a:solidFill>
            <a:srgbClr val="B7C9CD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8972550" y="5457825"/>
            <a:ext cx="47625" cy="95250"/>
          </a:xfrm>
          <a:prstGeom prst="roundRect">
            <a:avLst>
              <a:gd name="adj" fmla="val 20000"/>
            </a:avLst>
          </a:prstGeom>
          <a:solidFill>
            <a:srgbClr val="F7F3EA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9067800" y="5457825"/>
            <a:ext cx="47625" cy="95250"/>
          </a:xfrm>
          <a:prstGeom prst="roundRect">
            <a:avLst>
              <a:gd name="adj" fmla="val 20000"/>
            </a:avLst>
          </a:prstGeom>
          <a:solidFill>
            <a:srgbClr val="F7F3EA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9477375" y="4981575"/>
            <a:ext cx="266700" cy="1666875"/>
          </a:xfrm>
          <a:prstGeom prst="roundRect">
            <a:avLst>
              <a:gd name="adj" fmla="val 7143"/>
            </a:avLst>
          </a:prstGeom>
          <a:solidFill>
            <a:srgbClr val="B7C9CD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9544050" y="5124450"/>
            <a:ext cx="47625" cy="95250"/>
          </a:xfrm>
          <a:prstGeom prst="roundRect">
            <a:avLst>
              <a:gd name="adj" fmla="val 20000"/>
            </a:avLst>
          </a:prstGeom>
          <a:solidFill>
            <a:srgbClr val="F7F3EA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639300" y="5124450"/>
            <a:ext cx="47625" cy="95250"/>
          </a:xfrm>
          <a:prstGeom prst="roundRect">
            <a:avLst>
              <a:gd name="adj" fmla="val 20000"/>
            </a:avLst>
          </a:prstGeom>
          <a:solidFill>
            <a:srgbClr val="F7F3EA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10001250" y="5219700"/>
            <a:ext cx="266700" cy="1190625"/>
          </a:xfrm>
          <a:prstGeom prst="roundRect">
            <a:avLst>
              <a:gd name="adj" fmla="val 7143"/>
            </a:avLst>
          </a:prstGeom>
          <a:solidFill>
            <a:srgbClr val="B7C9CD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10067925" y="5362575"/>
            <a:ext cx="47625" cy="95250"/>
          </a:xfrm>
          <a:prstGeom prst="roundRect">
            <a:avLst>
              <a:gd name="adj" fmla="val 20000"/>
            </a:avLst>
          </a:prstGeom>
          <a:solidFill>
            <a:srgbClr val="F7F3EA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10163175" y="5362575"/>
            <a:ext cx="47625" cy="95250"/>
          </a:xfrm>
          <a:prstGeom prst="roundRect">
            <a:avLst>
              <a:gd name="adj" fmla="val 20000"/>
            </a:avLst>
          </a:prstGeom>
          <a:solidFill>
            <a:srgbClr val="F7F3EA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10572750" y="4857750"/>
            <a:ext cx="266700" cy="1905000"/>
          </a:xfrm>
          <a:prstGeom prst="roundRect">
            <a:avLst>
              <a:gd name="adj" fmla="val 7143"/>
            </a:avLst>
          </a:prstGeom>
          <a:solidFill>
            <a:srgbClr val="B7C9CD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10639425" y="5000625"/>
            <a:ext cx="47625" cy="95250"/>
          </a:xfrm>
          <a:prstGeom prst="roundRect">
            <a:avLst>
              <a:gd name="adj" fmla="val 20000"/>
            </a:avLst>
          </a:prstGeom>
          <a:solidFill>
            <a:srgbClr val="F7F3EA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10734675" y="5000625"/>
            <a:ext cx="47625" cy="95250"/>
          </a:xfrm>
          <a:prstGeom prst="roundRect">
            <a:avLst>
              <a:gd name="adj" fmla="val 20000"/>
            </a:avLst>
          </a:prstGeom>
          <a:solidFill>
            <a:srgbClr val="F7F3EA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11144250" y="5095875"/>
            <a:ext cx="266700" cy="1428750"/>
          </a:xfrm>
          <a:prstGeom prst="roundRect">
            <a:avLst>
              <a:gd name="adj" fmla="val 7143"/>
            </a:avLst>
          </a:prstGeom>
          <a:solidFill>
            <a:srgbClr val="B7C9CD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11210925" y="5238750"/>
            <a:ext cx="47625" cy="95250"/>
          </a:xfrm>
          <a:prstGeom prst="roundRect">
            <a:avLst>
              <a:gd name="adj" fmla="val 20000"/>
            </a:avLst>
          </a:prstGeom>
          <a:solidFill>
            <a:srgbClr val="F7F3EA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11306175" y="5238750"/>
            <a:ext cx="47625" cy="95250"/>
          </a:xfrm>
          <a:prstGeom prst="roundRect">
            <a:avLst>
              <a:gd name="adj" fmla="val 20000"/>
            </a:avLst>
          </a:prstGeom>
          <a:solidFill>
            <a:srgbClr val="F7F3EA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11715750" y="5286375"/>
            <a:ext cx="266700" cy="1047750"/>
          </a:xfrm>
          <a:prstGeom prst="roundRect">
            <a:avLst>
              <a:gd name="adj" fmla="val 7143"/>
            </a:avLst>
          </a:prstGeom>
          <a:solidFill>
            <a:srgbClr val="B7C9CD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11782425" y="5429250"/>
            <a:ext cx="47625" cy="95250"/>
          </a:xfrm>
          <a:prstGeom prst="roundRect">
            <a:avLst>
              <a:gd name="adj" fmla="val 20000"/>
            </a:avLst>
          </a:prstGeom>
          <a:solidFill>
            <a:srgbClr val="F7F3EA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11877675" y="5429250"/>
            <a:ext cx="47625" cy="95250"/>
          </a:xfrm>
          <a:prstGeom prst="roundRect">
            <a:avLst>
              <a:gd name="adj" fmla="val 20000"/>
            </a:avLst>
          </a:prstGeom>
          <a:solidFill>
            <a:srgbClr val="F7F3EA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832485" y="736600"/>
            <a:ext cx="286023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50" dirty="0">
                <a:solidFill>
                  <a:srgbClr val="D7A85B"/>
                </a:solidFill>
                <a:latin typeface="+mn-lt"/>
                <a:ea typeface="+mn-ea"/>
                <a:cs typeface="+mn-cs"/>
              </a:rPr>
              <a:t>01 / NATIONAL SCHOLARSHIP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19150" y="1720850"/>
            <a:ext cx="4278630" cy="876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国家奖学金答辩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27532" y="2717800"/>
            <a:ext cx="397916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DCE7EF"/>
                </a:solidFill>
                <a:latin typeface="+mn-lt"/>
                <a:ea typeface="+mn-ea"/>
                <a:cs typeface="+mn-cs"/>
              </a:rPr>
              <a:t>以学筑基，以行践知，以担尽责</a:t>
            </a:r>
          </a:p>
        </p:txBody>
      </p:sp>
      <p:sp>
        <p:nvSpPr>
          <p:cNvPr id="33" name="Line 33"/>
          <p:cNvSpPr/>
          <p:nvPr/>
        </p:nvSpPr>
        <p:spPr>
          <a:xfrm>
            <a:off x="857250" y="3429000"/>
            <a:ext cx="1714500" cy="9525"/>
          </a:xfrm>
          <a:custGeom>
            <a:avLst/>
            <a:gdLst/>
            <a:ahLst/>
            <a:cxnLst/>
            <a:rect l="l" t="t" r="r" b="b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38100">
            <a:solidFill>
              <a:srgbClr val="D7A85B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45058" y="3651250"/>
            <a:ext cx="67056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周铭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50011" y="4165600"/>
            <a:ext cx="362553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C5D4DF"/>
                </a:solidFill>
                <a:latin typeface="+mn-lt"/>
                <a:ea typeface="+mn-ea"/>
                <a:cs typeface="+mn-cs"/>
              </a:rPr>
              <a:t>中央财经大学财政税务学院 · 税收学25-2班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51154" y="5829300"/>
            <a:ext cx="126050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9BCCB"/>
                </a:solidFill>
                <a:latin typeface="+mn-lt"/>
                <a:ea typeface="+mn-ea"/>
                <a:cs typeface="+mn-cs"/>
              </a:rPr>
              <a:t>2025—2026 学年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397976" y="6026150"/>
            <a:ext cx="103888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spc="150" dirty="0">
                <a:solidFill>
                  <a:srgbClr val="0B2038"/>
                </a:solidFill>
                <a:latin typeface="+mn-lt"/>
                <a:ea typeface="+mn-ea"/>
                <a:cs typeface="+mn-cs"/>
              </a:rPr>
              <a:t>学 · 行 · 担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900666" y="6350000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02D4A"/>
                </a:solidFill>
                <a:latin typeface="+mn-lt"/>
                <a:ea typeface="+mn-ea"/>
                <a:cs typeface="+mn-cs"/>
              </a:rPr>
              <a:t>从课堂出发，向真实世界抵达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A85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41985" y="508000"/>
            <a:ext cx="10683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spc="150" dirty="0">
                <a:solidFill>
                  <a:srgbClr val="4D9A9A"/>
                </a:solidFill>
                <a:latin typeface="+mn-lt"/>
                <a:ea typeface="+mn-ea"/>
                <a:cs typeface="+mn-cs"/>
              </a:rPr>
              <a:t>02 / 学研并进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31698" y="876300"/>
            <a:ext cx="1728216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0B2038"/>
                </a:solidFill>
                <a:latin typeface="+mn-lt"/>
                <a:ea typeface="+mn-ea"/>
                <a:cs typeface="+mn-cs"/>
              </a:rPr>
              <a:t>以学筑基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9318" y="1473200"/>
            <a:ext cx="290436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D"/>
                </a:solidFill>
                <a:latin typeface="+mn-lt"/>
                <a:ea typeface="+mn-ea"/>
                <a:cs typeface="+mn-cs"/>
              </a:rPr>
              <a:t>成绩体现积累，突破体现成长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75349" y="587375"/>
            <a:ext cx="139808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38493"/>
                </a:solidFill>
                <a:latin typeface="+mn-lt"/>
                <a:ea typeface="+mn-ea"/>
                <a:cs typeface="+mn-cs"/>
              </a:rPr>
              <a:t>周铭 | 国家奖学金答辩</a:t>
            </a:r>
          </a:p>
        </p:txBody>
      </p:sp>
      <p:sp>
        <p:nvSpPr>
          <p:cNvPr id="8" name="Rectangle 8"/>
          <p:cNvSpPr/>
          <p:nvPr/>
        </p:nvSpPr>
        <p:spPr>
          <a:xfrm>
            <a:off x="647700" y="2190750"/>
            <a:ext cx="2324100" cy="142875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DDE5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842391" y="2425700"/>
            <a:ext cx="1013466" cy="572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920" b="1" dirty="0">
                <a:solidFill>
                  <a:srgbClr val="D7A85B"/>
                </a:solidFill>
                <a:latin typeface="+mn-lt"/>
                <a:ea typeface="+mn-ea"/>
                <a:cs typeface="+mn-cs"/>
              </a:rPr>
              <a:t>89.71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02130" y="2603500"/>
            <a:ext cx="2171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D7A85B"/>
                </a:solidFill>
                <a:latin typeface="+mn-lt"/>
                <a:ea typeface="+mn-ea"/>
                <a:cs typeface="+mn-cs"/>
              </a:rPr>
              <a:t>分</a:t>
            </a:r>
          </a:p>
        </p:txBody>
      </p:sp>
      <p:sp>
        <p:nvSpPr>
          <p:cNvPr id="11" name="Line 11"/>
          <p:cNvSpPr/>
          <p:nvPr/>
        </p:nvSpPr>
        <p:spPr>
          <a:xfrm>
            <a:off x="857250" y="302895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28575">
            <a:solidFill>
              <a:srgbClr val="D9E5E7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851154" y="318135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789"/>
                </a:solidFill>
                <a:latin typeface="+mn-lt"/>
                <a:ea typeface="+mn-ea"/>
                <a:cs typeface="+mn-cs"/>
              </a:rPr>
              <a:t>学分加权平均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314700" y="2190750"/>
            <a:ext cx="2324100" cy="142875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DDE5E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509391" y="2425700"/>
            <a:ext cx="1100182" cy="572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920" b="1" dirty="0">
                <a:solidFill>
                  <a:srgbClr val="0B2038"/>
                </a:solidFill>
                <a:latin typeface="+mn-lt"/>
                <a:ea typeface="+mn-ea"/>
                <a:cs typeface="+mn-cs"/>
              </a:rPr>
              <a:t>前 5%</a:t>
            </a:r>
          </a:p>
        </p:txBody>
      </p:sp>
      <p:sp>
        <p:nvSpPr>
          <p:cNvPr id="15" name="Line 15"/>
          <p:cNvSpPr/>
          <p:nvPr/>
        </p:nvSpPr>
        <p:spPr>
          <a:xfrm>
            <a:off x="3524250" y="302895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28575">
            <a:solidFill>
              <a:srgbClr val="D9E5E7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3518154" y="3181350"/>
            <a:ext cx="14480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789"/>
                </a:solidFill>
                <a:latin typeface="+mn-lt"/>
                <a:ea typeface="+mn-ea"/>
                <a:cs typeface="+mn-cs"/>
              </a:rPr>
              <a:t>学业成绩 · 年级排名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981700" y="2190750"/>
            <a:ext cx="2324100" cy="142875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DDE5EA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176391" y="2425700"/>
            <a:ext cx="1536827" cy="572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920" b="1" dirty="0">
                <a:solidFill>
                  <a:srgbClr val="D7A85B"/>
                </a:solidFill>
                <a:latin typeface="+mn-lt"/>
                <a:ea typeface="+mn-ea"/>
                <a:cs typeface="+mn-cs"/>
              </a:rPr>
              <a:t>班级第 3</a:t>
            </a:r>
          </a:p>
        </p:txBody>
      </p:sp>
      <p:sp>
        <p:nvSpPr>
          <p:cNvPr id="19" name="Line 19"/>
          <p:cNvSpPr/>
          <p:nvPr/>
        </p:nvSpPr>
        <p:spPr>
          <a:xfrm>
            <a:off x="6191250" y="302895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28575">
            <a:solidFill>
              <a:srgbClr val="D9E5E7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6185154" y="318135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789"/>
                </a:solidFill>
                <a:latin typeface="+mn-lt"/>
                <a:ea typeface="+mn-ea"/>
                <a:cs typeface="+mn-cs"/>
              </a:rPr>
              <a:t>综合测评</a:t>
            </a:r>
          </a:p>
        </p:txBody>
      </p:sp>
      <p:sp>
        <p:nvSpPr>
          <p:cNvPr id="21" name="Rectangle 21"/>
          <p:cNvSpPr/>
          <p:nvPr/>
        </p:nvSpPr>
        <p:spPr>
          <a:xfrm>
            <a:off x="8648700" y="2190750"/>
            <a:ext cx="2324100" cy="142875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DDE5EA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8843391" y="2425700"/>
            <a:ext cx="1013466" cy="572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920" b="1" dirty="0">
                <a:solidFill>
                  <a:srgbClr val="D7A85B"/>
                </a:solidFill>
                <a:latin typeface="+mn-lt"/>
                <a:ea typeface="+mn-ea"/>
                <a:cs typeface="+mn-cs"/>
              </a:rPr>
              <a:t>91.07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803130" y="2603500"/>
            <a:ext cx="2171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D7A85B"/>
                </a:solidFill>
                <a:latin typeface="+mn-lt"/>
                <a:ea typeface="+mn-ea"/>
                <a:cs typeface="+mn-cs"/>
              </a:rPr>
              <a:t>分</a:t>
            </a:r>
          </a:p>
        </p:txBody>
      </p:sp>
      <p:sp>
        <p:nvSpPr>
          <p:cNvPr id="24" name="Line 24"/>
          <p:cNvSpPr/>
          <p:nvPr/>
        </p:nvSpPr>
        <p:spPr>
          <a:xfrm>
            <a:off x="8858250" y="302895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28575">
            <a:solidFill>
              <a:srgbClr val="D9E5E7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8852154" y="318135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789"/>
                </a:solidFill>
                <a:latin typeface="+mn-lt"/>
                <a:ea typeface="+mn-ea"/>
                <a:cs typeface="+mn-cs"/>
              </a:rPr>
              <a:t>第二学期平均分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39318" y="4083050"/>
            <a:ext cx="398450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B2038"/>
                </a:solidFill>
                <a:latin typeface="+mn-lt"/>
                <a:ea typeface="+mn-ea"/>
                <a:cs typeface="+mn-cs"/>
              </a:rPr>
              <a:t>高等数学 · 从“刚达及格线”到“期末 90+”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1223" y="4514850"/>
            <a:ext cx="702208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4D9A9A"/>
                </a:solidFill>
                <a:latin typeface="+mn-lt"/>
                <a:ea typeface="+mn-ea"/>
                <a:cs typeface="+mn-cs"/>
              </a:rPr>
              <a:t>框架梳理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943481" y="443865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D7A85B"/>
                </a:solidFill>
                <a:latin typeface="+mn-lt"/>
                <a:ea typeface="+mn-ea"/>
                <a:cs typeface="+mn-cs"/>
              </a:rPr>
              <a:t>→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374773" y="4514850"/>
            <a:ext cx="702208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4D9A9A"/>
                </a:solidFill>
                <a:latin typeface="+mn-lt"/>
                <a:ea typeface="+mn-ea"/>
                <a:cs typeface="+mn-cs"/>
              </a:rPr>
              <a:t>错题复盘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667506" y="443865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D7A85B"/>
                </a:solidFill>
                <a:latin typeface="+mn-lt"/>
                <a:ea typeface="+mn-ea"/>
                <a:cs typeface="+mn-cs"/>
              </a:rPr>
              <a:t>→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108323" y="4514850"/>
            <a:ext cx="702208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4D9A9A"/>
                </a:solidFill>
                <a:latin typeface="+mn-lt"/>
                <a:ea typeface="+mn-ea"/>
                <a:cs typeface="+mn-cs"/>
              </a:rPr>
              <a:t>针对训练</a:t>
            </a:r>
          </a:p>
        </p:txBody>
      </p:sp>
      <p:sp>
        <p:nvSpPr>
          <p:cNvPr id="32" name="Line 32"/>
          <p:cNvSpPr/>
          <p:nvPr/>
        </p:nvSpPr>
        <p:spPr>
          <a:xfrm>
            <a:off x="914400" y="5476875"/>
            <a:ext cx="9963150" cy="9525"/>
          </a:xfrm>
          <a:custGeom>
            <a:avLst/>
            <a:gdLst/>
            <a:ahLst/>
            <a:cxnLst/>
            <a:rect l="l" t="t" r="r" b="b"/>
            <a:pathLst>
              <a:path w="9963150" h="9525">
                <a:moveTo>
                  <a:pt x="0" y="0"/>
                </a:moveTo>
                <a:lnTo>
                  <a:pt x="9963150" y="0"/>
                </a:lnTo>
              </a:path>
            </a:pathLst>
          </a:custGeom>
          <a:noFill/>
          <a:ln w="47625">
            <a:solidFill>
              <a:srgbClr val="CBD8DE"/>
            </a:solidFill>
          </a:ln>
        </p:spPr>
      </p:sp>
      <p:sp>
        <p:nvSpPr>
          <p:cNvPr id="33" name="Line 33"/>
          <p:cNvSpPr/>
          <p:nvPr/>
        </p:nvSpPr>
        <p:spPr>
          <a:xfrm>
            <a:off x="914400" y="4905375"/>
            <a:ext cx="8896350" cy="571500"/>
          </a:xfrm>
          <a:custGeom>
            <a:avLst/>
            <a:gdLst/>
            <a:ahLst/>
            <a:cxnLst/>
            <a:rect l="l" t="t" r="r" b="b"/>
            <a:pathLst>
              <a:path w="8896350" h="571500">
                <a:moveTo>
                  <a:pt x="0" y="571500"/>
                </a:moveTo>
                <a:lnTo>
                  <a:pt x="8896350" y="0"/>
                </a:lnTo>
              </a:path>
            </a:pathLst>
          </a:custGeom>
          <a:noFill/>
          <a:ln w="66675">
            <a:solidFill>
              <a:srgbClr val="D7A85B"/>
            </a:solidFill>
          </a:ln>
        </p:spPr>
      </p:sp>
      <p:sp>
        <p:nvSpPr>
          <p:cNvPr id="34" name="Ellipse 34"/>
          <p:cNvSpPr/>
          <p:nvPr/>
        </p:nvSpPr>
        <p:spPr>
          <a:xfrm>
            <a:off x="819150" y="5381625"/>
            <a:ext cx="190500" cy="190500"/>
          </a:xfrm>
          <a:prstGeom prst="ellipse">
            <a:avLst/>
          </a:prstGeom>
          <a:solidFill>
            <a:srgbClr val="4D9A9A"/>
          </a:solidFill>
          <a:ln w="38100">
            <a:solidFill>
              <a:srgbClr val="FFFFFF"/>
            </a:solidFill>
          </a:ln>
        </p:spPr>
      </p:sp>
      <p:sp>
        <p:nvSpPr>
          <p:cNvPr id="35" name="Ellipse 35"/>
          <p:cNvSpPr/>
          <p:nvPr/>
        </p:nvSpPr>
        <p:spPr>
          <a:xfrm>
            <a:off x="9715500" y="4810125"/>
            <a:ext cx="190500" cy="190500"/>
          </a:xfrm>
          <a:prstGeom prst="ellipse">
            <a:avLst/>
          </a:prstGeom>
          <a:solidFill>
            <a:srgbClr val="D7A85B"/>
          </a:solidFill>
          <a:ln w="38100">
            <a:solidFill>
              <a:srgbClr val="FFFFFF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907923" y="5753100"/>
            <a:ext cx="1391463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B7D8A"/>
                </a:solidFill>
                <a:latin typeface="+mn-lt"/>
                <a:ea typeface="+mn-ea"/>
                <a:cs typeface="+mn-cs"/>
              </a:rPr>
              <a:t>期中：刚达及格线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803130" y="5108575"/>
            <a:ext cx="136744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B2038"/>
                </a:solidFill>
                <a:latin typeface="+mn-lt"/>
                <a:ea typeface="+mn-ea"/>
                <a:cs typeface="+mn-cs"/>
              </a:rPr>
              <a:t>期末卷面：90+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41985" y="6375400"/>
            <a:ext cx="13684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728492"/>
                </a:solidFill>
                <a:latin typeface="+mn-lt"/>
                <a:ea typeface="+mn-ea"/>
                <a:cs typeface="+mn-cs"/>
              </a:rPr>
              <a:t>把薄弱项变成增长点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030486" y="6388100"/>
            <a:ext cx="4429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28492"/>
                </a:solidFill>
                <a:latin typeface="+mn-lt"/>
                <a:ea typeface="+mn-ea"/>
                <a:cs typeface="+mn-cs"/>
              </a:rPr>
              <a:t>02 / 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203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41985" y="488950"/>
            <a:ext cx="10683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spc="150" dirty="0">
                <a:solidFill>
                  <a:srgbClr val="D7A85B"/>
                </a:solidFill>
                <a:latin typeface="+mn-lt"/>
                <a:ea typeface="+mn-ea"/>
                <a:cs typeface="+mn-cs"/>
              </a:rPr>
              <a:t>03 / 敢闯会创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33603" y="914400"/>
            <a:ext cx="5641848" cy="543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把专业知识，做成可用的校园服务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39699" y="1466850"/>
            <a:ext cx="3348154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D7E2E9"/>
                </a:solidFill>
                <a:latin typeface="+mn-lt"/>
                <a:ea typeface="+mn-ea"/>
                <a:cs typeface="+mn-cs"/>
              </a:rPr>
              <a:t>“帮帮君”校园轻量级即时帮服务平台</a:t>
            </a:r>
          </a:p>
        </p:txBody>
      </p:sp>
      <p:sp>
        <p:nvSpPr>
          <p:cNvPr id="6" name="Rectangle 6"/>
          <p:cNvSpPr/>
          <p:nvPr/>
        </p:nvSpPr>
        <p:spPr>
          <a:xfrm>
            <a:off x="647700" y="2190750"/>
            <a:ext cx="3333750" cy="1104900"/>
          </a:xfrm>
          <a:prstGeom prst="roundRect">
            <a:avLst>
              <a:gd name="adj" fmla="val 13793"/>
            </a:avLst>
          </a:prstGeom>
          <a:solidFill>
            <a:srgbClr val="102D4A"/>
          </a:solidFill>
          <a:ln w="9525">
            <a:solidFill>
              <a:srgbClr val="31536C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89635" y="2413000"/>
            <a:ext cx="7653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D7A85B"/>
                </a:solidFill>
                <a:latin typeface="+mn-lt"/>
                <a:ea typeface="+mn-ea"/>
                <a:cs typeface="+mn-cs"/>
              </a:rPr>
              <a:t>项目负责人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7730" y="2736850"/>
            <a:ext cx="2741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2026 大学生创新创业训练计划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9254" y="300037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BD0DA"/>
                </a:solidFill>
                <a:latin typeface="+mn-lt"/>
                <a:ea typeface="+mn-ea"/>
                <a:cs typeface="+mn-cs"/>
              </a:rPr>
              <a:t>校级立项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28650" y="3562350"/>
            <a:ext cx="1357216" cy="847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350" b="1" dirty="0">
                <a:solidFill>
                  <a:srgbClr val="D7A85B"/>
                </a:solidFill>
                <a:latin typeface="+mn-lt"/>
                <a:ea typeface="+mn-ea"/>
                <a:cs typeface="+mn-cs"/>
              </a:rPr>
              <a:t>300+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40842" y="4273550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9E5EA"/>
                </a:solidFill>
                <a:latin typeface="+mn-lt"/>
                <a:ea typeface="+mn-ea"/>
                <a:cs typeface="+mn-cs"/>
              </a:rPr>
              <a:t>份问卷调研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1604" y="4943475"/>
            <a:ext cx="20942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7C8D1"/>
                </a:solidFill>
                <a:latin typeface="+mn-lt"/>
                <a:ea typeface="+mn-ea"/>
                <a:cs typeface="+mn-cs"/>
              </a:rPr>
              <a:t>夜间应急购物 · 快递代取保障</a:t>
            </a:r>
          </a:p>
        </p:txBody>
      </p:sp>
      <p:sp>
        <p:nvSpPr>
          <p:cNvPr id="13" name="Line 13"/>
          <p:cNvSpPr/>
          <p:nvPr/>
        </p:nvSpPr>
        <p:spPr>
          <a:xfrm>
            <a:off x="4953000" y="2209800"/>
            <a:ext cx="9525" cy="3600450"/>
          </a:xfrm>
          <a:custGeom>
            <a:avLst/>
            <a:gdLst/>
            <a:ahLst/>
            <a:cxnLst/>
            <a:rect l="l" t="t" r="r" b="b"/>
            <a:pathLst>
              <a:path w="9525" h="3600450">
                <a:moveTo>
                  <a:pt x="0" y="0"/>
                </a:moveTo>
                <a:lnTo>
                  <a:pt x="0" y="3600450"/>
                </a:lnTo>
              </a:path>
            </a:pathLst>
          </a:custGeom>
          <a:noFill/>
          <a:ln w="19050">
            <a:solidFill>
              <a:srgbClr val="31536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5441061" y="2165350"/>
            <a:ext cx="19260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从真实痛点到合规方案</a:t>
            </a:r>
          </a:p>
        </p:txBody>
      </p:sp>
      <p:sp>
        <p:nvSpPr>
          <p:cNvPr id="15" name="Ellipse 15"/>
          <p:cNvSpPr/>
          <p:nvPr/>
        </p:nvSpPr>
        <p:spPr>
          <a:xfrm>
            <a:off x="5772150" y="2867025"/>
            <a:ext cx="552450" cy="552450"/>
          </a:xfrm>
          <a:prstGeom prst="ellipse">
            <a:avLst/>
          </a:prstGeom>
          <a:solidFill>
            <a:srgbClr val="D7A85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946057" y="3067050"/>
            <a:ext cx="204636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0B2038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697271" y="3600450"/>
            <a:ext cx="702208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发现痛点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18988" y="3968750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B7C8D1"/>
                </a:solidFill>
                <a:latin typeface="+mn-lt"/>
                <a:ea typeface="+mn-ea"/>
                <a:cs typeface="+mn-cs"/>
              </a:rPr>
              <a:t>夜间应急购物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618988" y="4206875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B7C8D1"/>
                </a:solidFill>
                <a:latin typeface="+mn-lt"/>
                <a:ea typeface="+mn-ea"/>
                <a:cs typeface="+mn-cs"/>
              </a:rPr>
              <a:t>快递代取保障</a:t>
            </a:r>
          </a:p>
        </p:txBody>
      </p:sp>
      <p:sp>
        <p:nvSpPr>
          <p:cNvPr id="20" name="Line 20"/>
          <p:cNvSpPr/>
          <p:nvPr/>
        </p:nvSpPr>
        <p:spPr>
          <a:xfrm>
            <a:off x="6381750" y="3143250"/>
            <a:ext cx="904875" cy="9525"/>
          </a:xfrm>
          <a:custGeom>
            <a:avLst/>
            <a:gdLst/>
            <a:ahLst/>
            <a:cxnLst/>
            <a:rect l="l" t="t" r="r" b="b"/>
            <a:pathLst>
              <a:path w="904875" h="9525">
                <a:moveTo>
                  <a:pt x="0" y="0"/>
                </a:moveTo>
                <a:lnTo>
                  <a:pt x="904875" y="0"/>
                </a:lnTo>
              </a:path>
            </a:pathLst>
          </a:custGeom>
          <a:noFill/>
          <a:ln w="28575">
            <a:solidFill>
              <a:srgbClr val="66859A"/>
            </a:solidFill>
          </a:ln>
        </p:spPr>
      </p:sp>
      <p:sp>
        <p:nvSpPr>
          <p:cNvPr id="21" name="Ellipse 21"/>
          <p:cNvSpPr/>
          <p:nvPr/>
        </p:nvSpPr>
        <p:spPr>
          <a:xfrm>
            <a:off x="7343775" y="2867025"/>
            <a:ext cx="552450" cy="552450"/>
          </a:xfrm>
          <a:prstGeom prst="ellipse">
            <a:avLst/>
          </a:prstGeom>
          <a:solidFill>
            <a:srgbClr val="D7A85B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7517682" y="3067050"/>
            <a:ext cx="204636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0B2038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268896" y="3600450"/>
            <a:ext cx="702208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调研验证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223802" y="3968750"/>
            <a:ext cx="79239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B7C8D1"/>
                </a:solidFill>
                <a:latin typeface="+mn-lt"/>
                <a:ea typeface="+mn-ea"/>
                <a:cs typeface="+mn-cs"/>
              </a:rPr>
              <a:t>300+ 份问卷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331964" y="4206875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B7C8D1"/>
                </a:solidFill>
                <a:latin typeface="+mn-lt"/>
                <a:ea typeface="+mn-ea"/>
                <a:cs typeface="+mn-cs"/>
              </a:rPr>
              <a:t>需求分层</a:t>
            </a:r>
          </a:p>
        </p:txBody>
      </p:sp>
      <p:sp>
        <p:nvSpPr>
          <p:cNvPr id="26" name="Line 26"/>
          <p:cNvSpPr/>
          <p:nvPr/>
        </p:nvSpPr>
        <p:spPr>
          <a:xfrm>
            <a:off x="7953375" y="3143250"/>
            <a:ext cx="904875" cy="9525"/>
          </a:xfrm>
          <a:custGeom>
            <a:avLst/>
            <a:gdLst/>
            <a:ahLst/>
            <a:cxnLst/>
            <a:rect l="l" t="t" r="r" b="b"/>
            <a:pathLst>
              <a:path w="904875" h="9525">
                <a:moveTo>
                  <a:pt x="0" y="0"/>
                </a:moveTo>
                <a:lnTo>
                  <a:pt x="904875" y="0"/>
                </a:lnTo>
              </a:path>
            </a:pathLst>
          </a:custGeom>
          <a:noFill/>
          <a:ln w="28575">
            <a:solidFill>
              <a:srgbClr val="66859A"/>
            </a:solidFill>
          </a:ln>
        </p:spPr>
      </p:sp>
      <p:sp>
        <p:nvSpPr>
          <p:cNvPr id="27" name="Ellipse 27"/>
          <p:cNvSpPr/>
          <p:nvPr/>
        </p:nvSpPr>
        <p:spPr>
          <a:xfrm>
            <a:off x="8915400" y="2867025"/>
            <a:ext cx="552450" cy="552450"/>
          </a:xfrm>
          <a:prstGeom prst="ellipse">
            <a:avLst/>
          </a:prstGeom>
          <a:solidFill>
            <a:srgbClr val="D7A85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089307" y="3067050"/>
            <a:ext cx="204636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0B2038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840521" y="3600450"/>
            <a:ext cx="702208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服务设计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832914" y="3968750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B7C8D1"/>
                </a:solidFill>
                <a:latin typeface="+mn-lt"/>
                <a:ea typeface="+mn-ea"/>
                <a:cs typeface="+mn-cs"/>
              </a:rPr>
              <a:t>分布式微仓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832914" y="4206875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B7C8D1"/>
                </a:solidFill>
                <a:latin typeface="+mn-lt"/>
                <a:ea typeface="+mn-ea"/>
                <a:cs typeface="+mn-cs"/>
              </a:rPr>
              <a:t>＋众包运力</a:t>
            </a:r>
          </a:p>
        </p:txBody>
      </p:sp>
      <p:sp>
        <p:nvSpPr>
          <p:cNvPr id="32" name="Line 32"/>
          <p:cNvSpPr/>
          <p:nvPr/>
        </p:nvSpPr>
        <p:spPr>
          <a:xfrm>
            <a:off x="9525000" y="3143250"/>
            <a:ext cx="904875" cy="9525"/>
          </a:xfrm>
          <a:custGeom>
            <a:avLst/>
            <a:gdLst/>
            <a:ahLst/>
            <a:cxnLst/>
            <a:rect l="l" t="t" r="r" b="b"/>
            <a:pathLst>
              <a:path w="904875" h="9525">
                <a:moveTo>
                  <a:pt x="0" y="0"/>
                </a:moveTo>
                <a:lnTo>
                  <a:pt x="904875" y="0"/>
                </a:lnTo>
              </a:path>
            </a:pathLst>
          </a:custGeom>
          <a:noFill/>
          <a:ln w="28575">
            <a:solidFill>
              <a:srgbClr val="66859A"/>
            </a:solidFill>
          </a:ln>
        </p:spPr>
      </p:sp>
      <p:sp>
        <p:nvSpPr>
          <p:cNvPr id="33" name="Ellipse 33"/>
          <p:cNvSpPr/>
          <p:nvPr/>
        </p:nvSpPr>
        <p:spPr>
          <a:xfrm>
            <a:off x="10487025" y="2867025"/>
            <a:ext cx="552450" cy="552450"/>
          </a:xfrm>
          <a:prstGeom prst="ellipse">
            <a:avLst/>
          </a:prstGeom>
          <a:solidFill>
            <a:srgbClr val="D7A85B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10660932" y="3067050"/>
            <a:ext cx="204636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0B2038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412146" y="3600450"/>
            <a:ext cx="702208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专业支撑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333863" y="3968750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B7C8D1"/>
                </a:solidFill>
                <a:latin typeface="+mn-lt"/>
                <a:ea typeface="+mn-ea"/>
                <a:cs typeface="+mn-cs"/>
              </a:rPr>
              <a:t>税务合规方案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333863" y="4206875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B7C8D1"/>
                </a:solidFill>
                <a:latin typeface="+mn-lt"/>
                <a:ea typeface="+mn-ea"/>
                <a:cs typeface="+mn-cs"/>
              </a:rPr>
              <a:t>经营主体比较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448300" y="5219700"/>
            <a:ext cx="5810250" cy="571500"/>
          </a:xfrm>
          <a:prstGeom prst="roundRect">
            <a:avLst>
              <a:gd name="adj" fmla="val 20000"/>
            </a:avLst>
          </a:prstGeom>
          <a:solidFill>
            <a:srgbClr val="163A56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708904" y="541972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7A85B"/>
                </a:solidFill>
                <a:latin typeface="+mn-lt"/>
                <a:ea typeface="+mn-ea"/>
                <a:cs typeface="+mn-cs"/>
              </a:rPr>
              <a:t>调研验证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660642" y="5407025"/>
            <a:ext cx="11985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9A9B4"/>
                </a:solidFill>
                <a:latin typeface="+mn-lt"/>
                <a:ea typeface="+mn-ea"/>
                <a:cs typeface="+mn-cs"/>
              </a:rPr>
              <a:t>×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928104" y="541972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7A85B"/>
                </a:solidFill>
                <a:latin typeface="+mn-lt"/>
                <a:ea typeface="+mn-ea"/>
                <a:cs typeface="+mn-cs"/>
              </a:rPr>
              <a:t>服务设计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879842" y="5407025"/>
            <a:ext cx="11985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9A9B4"/>
                </a:solidFill>
                <a:latin typeface="+mn-lt"/>
                <a:ea typeface="+mn-ea"/>
                <a:cs typeface="+mn-cs"/>
              </a:rPr>
              <a:t>×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147304" y="541972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7A85B"/>
                </a:solidFill>
                <a:latin typeface="+mn-lt"/>
                <a:ea typeface="+mn-ea"/>
                <a:cs typeface="+mn-cs"/>
              </a:rPr>
              <a:t>专业支撑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030486" y="6388100"/>
            <a:ext cx="4429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7C8D1"/>
                </a:solidFill>
                <a:latin typeface="+mn-lt"/>
                <a:ea typeface="+mn-ea"/>
                <a:cs typeface="+mn-cs"/>
              </a:rPr>
              <a:t>03 / 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national_scholarship_preview">
  <a:themeElements>
    <a:clrScheme name="national_scholarship_preview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ational_scholarship_preview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national_scholarship_pre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2026-10-10T11:09:02Z</dcterms:created>
  <dcterms:modified xsi:type="dcterms:W3CDTF">2026-10-10T11:09:02Z</dcterms:modified>
  <cp:category/>
  <cp:contentStatus/>
</cp:coreProperties>
</file>